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68" r:id="rId1"/>
  </p:sldMasterIdLst>
  <p:notesMasterIdLst>
    <p:notesMasterId r:id="rId28"/>
  </p:notesMasterIdLst>
  <p:sldIdLst>
    <p:sldId id="411" r:id="rId2"/>
    <p:sldId id="415" r:id="rId3"/>
    <p:sldId id="416" r:id="rId4"/>
    <p:sldId id="417" r:id="rId5"/>
    <p:sldId id="418" r:id="rId6"/>
    <p:sldId id="419" r:id="rId7"/>
    <p:sldId id="420" r:id="rId8"/>
    <p:sldId id="421" r:id="rId9"/>
    <p:sldId id="422" r:id="rId10"/>
    <p:sldId id="423" r:id="rId11"/>
    <p:sldId id="424" r:id="rId12"/>
    <p:sldId id="425" r:id="rId13"/>
    <p:sldId id="426" r:id="rId14"/>
    <p:sldId id="427" r:id="rId15"/>
    <p:sldId id="428" r:id="rId16"/>
    <p:sldId id="429" r:id="rId17"/>
    <p:sldId id="430" r:id="rId18"/>
    <p:sldId id="431" r:id="rId19"/>
    <p:sldId id="433" r:id="rId20"/>
    <p:sldId id="432" r:id="rId21"/>
    <p:sldId id="434" r:id="rId22"/>
    <p:sldId id="435" r:id="rId23"/>
    <p:sldId id="437" r:id="rId24"/>
    <p:sldId id="436" r:id="rId25"/>
    <p:sldId id="438" r:id="rId26"/>
    <p:sldId id="412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6" autoAdjust="0"/>
    <p:restoredTop sz="94660"/>
  </p:normalViewPr>
  <p:slideViewPr>
    <p:cSldViewPr snapToGrid="0">
      <p:cViewPr varScale="1">
        <p:scale>
          <a:sx n="90" d="100"/>
          <a:sy n="90" d="100"/>
        </p:scale>
        <p:origin x="8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2243F0-1FB2-41E4-961B-8CAB2AED1024}" type="datetimeFigureOut">
              <a:rPr lang="en-IN" smtClean="0"/>
              <a:pPr/>
              <a:t>10-03-2026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F20133-9643-4EF8-94CA-FEF99B36DC3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4009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6AB117-397A-4EB5-8E81-38A5F438CFAC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C:\Users\Srinidhi\Desktop\logo.png">
            <a:extLst>
              <a:ext uri="{FF2B5EF4-FFF2-40B4-BE49-F238E27FC236}">
                <a16:creationId xmlns:a16="http://schemas.microsoft.com/office/drawing/2014/main" id="{C728CEA0-BA7F-4BA3-B201-6B7A8B3DF1C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62028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47805206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2" descr="C:\Users\Srinidhi\Desktop\logo.png">
            <a:extLst>
              <a:ext uri="{FF2B5EF4-FFF2-40B4-BE49-F238E27FC236}">
                <a16:creationId xmlns:a16="http://schemas.microsoft.com/office/drawing/2014/main" id="{5E2C67C7-C385-4A44-A78F-D95F8B32544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575" y="33090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80929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63F32D-0DF3-41ED-AE57-C409384007E6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2" descr="C:\Users\Srinidhi\Desktop\logo.png">
            <a:extLst>
              <a:ext uri="{FF2B5EF4-FFF2-40B4-BE49-F238E27FC236}">
                <a16:creationId xmlns:a16="http://schemas.microsoft.com/office/drawing/2014/main" id="{6E4AAF7F-3876-4F6B-8901-E7673BBFDB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441" y="33090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97998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43F75-D3C1-4E9A-BA88-2EDB54456D7A}" type="datetime1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2" name="Picture 2" descr="C:\Users\Srinidhi\Desktop\logo.png">
            <a:extLst>
              <a:ext uri="{FF2B5EF4-FFF2-40B4-BE49-F238E27FC236}">
                <a16:creationId xmlns:a16="http://schemas.microsoft.com/office/drawing/2014/main" id="{EF3C39C1-9BAB-4C45-A144-CF8BF2E72B4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9189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23447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A8DD7-5ED9-4BE0-9903-CF33B818FA46}" type="datetime1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2" name="Picture 2" descr="C:\Users\Srinidhi\Desktop\logo.png">
            <a:extLst>
              <a:ext uri="{FF2B5EF4-FFF2-40B4-BE49-F238E27FC236}">
                <a16:creationId xmlns:a16="http://schemas.microsoft.com/office/drawing/2014/main" id="{1B300F68-EEC8-479F-89B4-B66DB0F421A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9013" y="12104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08109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3E156-EABD-4988-BC9A-7E600825328D}" type="datetime1">
              <a:rPr lang="en-IN" smtClean="0"/>
              <a:t>10-03-2026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7" name="Picture 2" descr="C:\Users\Srinidhi\Desktop\logo.png">
            <a:extLst>
              <a:ext uri="{FF2B5EF4-FFF2-40B4-BE49-F238E27FC236}">
                <a16:creationId xmlns:a16="http://schemas.microsoft.com/office/drawing/2014/main" id="{6720B71A-9CF9-4970-96CA-352F2D5F33C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0415" y="34776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76499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F9ECFD-B260-44BD-8EF3-F62980FE5BEA}" type="datetime1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Department of Computer Science and Engineering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2" name="Picture 2" descr="C:\Users\Srinidhi\Desktop\logo.png">
            <a:extLst>
              <a:ext uri="{FF2B5EF4-FFF2-40B4-BE49-F238E27FC236}">
                <a16:creationId xmlns:a16="http://schemas.microsoft.com/office/drawing/2014/main" id="{7393EDB9-65C6-42AA-B582-C92413F0DE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867" y="0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40474254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7CE1555-BFC1-4669-9277-34A3B11340A5}" type="datetime1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Department of Computer Science and Engineering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245FD78-8DE1-44B0-BD44-E067D054697C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11" name="Picture 2" descr="C:\Users\Srinidhi\Desktop\logo.png">
            <a:extLst>
              <a:ext uri="{FF2B5EF4-FFF2-40B4-BE49-F238E27FC236}">
                <a16:creationId xmlns:a16="http://schemas.microsoft.com/office/drawing/2014/main" id="{6BF8E43F-406B-489A-A07B-CBBB6CD8B6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4729" y="-48825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23331611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210E-A921-4BE5-BB24-9A4BED858234}" type="datetime1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11" name="Picture 2" descr="C:\Users\Srinidhi\Desktop\logo.png">
            <a:extLst>
              <a:ext uri="{FF2B5EF4-FFF2-40B4-BE49-F238E27FC236}">
                <a16:creationId xmlns:a16="http://schemas.microsoft.com/office/drawing/2014/main" id="{8D7279E7-0A06-4D9D-B018-700B7F4A331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3090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237779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E32133-5CE5-44EA-9252-8F64A5B069D0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2" descr="C:\Users\Srinidhi\Desktop\logo.png">
            <a:extLst>
              <a:ext uri="{FF2B5EF4-FFF2-40B4-BE49-F238E27FC236}">
                <a16:creationId xmlns:a16="http://schemas.microsoft.com/office/drawing/2014/main" id="{2BFF8954-070D-4352-AC3E-DD7D500D0A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3281" y="33090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66751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A564B-1CAC-450E-A787-30935552FB98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10" name="Picture 2" descr="C:\Users\Srinidhi\Desktop\logo.png">
            <a:extLst>
              <a:ext uri="{FF2B5EF4-FFF2-40B4-BE49-F238E27FC236}">
                <a16:creationId xmlns:a16="http://schemas.microsoft.com/office/drawing/2014/main" id="{F8681246-1AFA-47C1-8723-E212F3BD69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28927"/>
            <a:ext cx="2438400" cy="97720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65883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AAF59DE-AB61-4710-BAC3-336F52DD7D52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245FD78-8DE1-44B0-BD44-E067D054697C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238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49" y="1425836"/>
            <a:ext cx="11163300" cy="2362394"/>
          </a:xfrm>
        </p:spPr>
        <p:txBody>
          <a:bodyPr>
            <a:normAutofit fontScale="90000"/>
          </a:bodyPr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&lt;&lt;Project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Title: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Smart Classroom Monitoring System for Student Attendance, Attentiveness, and Behavior Analysis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Date)</a:t>
            </a:r>
            <a:b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1894115" y="135816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9641BE-B7C9-4946-A565-227D0582DC3F}"/>
              </a:ext>
            </a:extLst>
          </p:cNvPr>
          <p:cNvSpPr txBox="1"/>
          <p:nvPr/>
        </p:nvSpPr>
        <p:spPr>
          <a:xfrm>
            <a:off x="8446348" y="4677086"/>
            <a:ext cx="30718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&lt;Guide name&gt; </a:t>
            </a:r>
          </a:p>
          <a:p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&lt;Designation&gt;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9641BE-B7C9-4946-A565-227D0582DC3F}"/>
              </a:ext>
            </a:extLst>
          </p:cNvPr>
          <p:cNvSpPr txBox="1"/>
          <p:nvPr/>
        </p:nvSpPr>
        <p:spPr>
          <a:xfrm>
            <a:off x="1051152" y="4292365"/>
            <a:ext cx="421753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718456" y="1056503"/>
            <a:ext cx="1095919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Name: Project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CSP81      Credits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0:0:12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Term: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Feb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June 2025</a:t>
            </a: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9641BE-B7C9-4946-A565-227D0582DC3F}"/>
              </a:ext>
            </a:extLst>
          </p:cNvPr>
          <p:cNvSpPr txBox="1"/>
          <p:nvPr/>
        </p:nvSpPr>
        <p:spPr>
          <a:xfrm>
            <a:off x="4370274" y="4292365"/>
            <a:ext cx="42175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811083"/>
              </p:ext>
            </p:extLst>
          </p:nvPr>
        </p:nvGraphicFramePr>
        <p:xfrm>
          <a:off x="1148316" y="4753851"/>
          <a:ext cx="3221957" cy="14325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452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98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625"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</a:t>
                      </a:r>
                      <a:r>
                        <a:rPr lang="en-US" sz="1600" b="0" dirty="0" err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usns</a:t>
                      </a:r>
                      <a:r>
                        <a:rPr lang="en-US" sz="16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&lt;names&gt;</a:t>
                      </a:r>
                      <a:endParaRPr lang="en-IN" sz="16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625"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625">
                <a:tc>
                  <a:txBody>
                    <a:bodyPr/>
                    <a:lstStyle/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625">
                <a:tc>
                  <a:txBody>
                    <a:bodyPr/>
                    <a:lstStyle/>
                    <a:p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3919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92A57-80A3-8824-4E73-AF93B64BF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7B576-E4BB-59A2-6CA0-558ACF85A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3"/>
            <a:ext cx="10280469" cy="461405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1.Introduction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2.Problem Statement 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3.Objectives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4.Literature Survey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 specifications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System design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8. Testing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Results and Performance analysis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10. Conclusion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Future Work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11.</a:t>
            </a:r>
            <a:r>
              <a:rPr lang="en-IN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12. Papers published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B8DE66-3C64-AEAF-5B34-FBDAB2641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Computer Science and Engineering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22D287-4B27-3C76-4319-36DE8A3BA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2</a:t>
            </a:fld>
            <a:endParaRPr lang="en-IN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B7B04-4A9D-4F66-A709-26EAA7E0B4F8}" type="datetime1">
              <a:rPr lang="en-IN" smtClean="0"/>
              <a:t>10-03-2026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2519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13411" y="1040027"/>
            <a:ext cx="10058400" cy="1020723"/>
          </a:xfrm>
        </p:spPr>
        <p:txBody>
          <a:bodyPr>
            <a:normAutofit fontScale="90000"/>
          </a:bodyPr>
          <a:lstStyle/>
          <a:p>
            <a:r>
              <a:rPr lang="en-I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classroom monitoring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manual and difficult to manage in large classes.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automatically analyze classroom activities using computer vision and data analytics.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systems help track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attendance, student attention, and participation in real time.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classroom monitoring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teaching effectiveness and learning outcomes.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337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Monitoring student attendance, attentiveness, and classroom behavior manually is difficult and time-consuming, especially in large classrooms. Teachers cannot continuously observe all students during a lecture, which may lead to missed insights about student engagement and participation. Existing classroom monitoring methods lack automated mechanisms to analyze classroom activities effectively. Therefore, there is a need for an AI-based system that can automatically monitor and analyze classroom behavior, attendance, and engagement to support better teaching and learning outcomes.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7652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develop an AI-based system for automatic classroom monitoring.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and record student attendance using computer vision techniques.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student engagement and attentiveness during classroom sessions.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reports and insights to help improve teaching and classroom management.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224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69551" y="845389"/>
            <a:ext cx="10058400" cy="152139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869166"/>
              </p:ext>
            </p:extLst>
          </p:nvPr>
        </p:nvGraphicFramePr>
        <p:xfrm>
          <a:off x="315887" y="1288473"/>
          <a:ext cx="11876113" cy="50322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9639">
                  <a:extLst>
                    <a:ext uri="{9D8B030D-6E8A-4147-A177-3AD203B41FA5}">
                      <a16:colId xmlns:a16="http://schemas.microsoft.com/office/drawing/2014/main" val="3957473980"/>
                    </a:ext>
                  </a:extLst>
                </a:gridCol>
                <a:gridCol w="1830414">
                  <a:extLst>
                    <a:ext uri="{9D8B030D-6E8A-4147-A177-3AD203B41FA5}">
                      <a16:colId xmlns:a16="http://schemas.microsoft.com/office/drawing/2014/main" val="1354187454"/>
                    </a:ext>
                  </a:extLst>
                </a:gridCol>
                <a:gridCol w="2138531">
                  <a:extLst>
                    <a:ext uri="{9D8B030D-6E8A-4147-A177-3AD203B41FA5}">
                      <a16:colId xmlns:a16="http://schemas.microsoft.com/office/drawing/2014/main" val="292331515"/>
                    </a:ext>
                  </a:extLst>
                </a:gridCol>
                <a:gridCol w="3478392">
                  <a:extLst>
                    <a:ext uri="{9D8B030D-6E8A-4147-A177-3AD203B41FA5}">
                      <a16:colId xmlns:a16="http://schemas.microsoft.com/office/drawing/2014/main" val="1828951442"/>
                    </a:ext>
                  </a:extLst>
                </a:gridCol>
                <a:gridCol w="4079137">
                  <a:extLst>
                    <a:ext uri="{9D8B030D-6E8A-4147-A177-3AD203B41FA5}">
                      <a16:colId xmlns:a16="http://schemas.microsoft.com/office/drawing/2014/main" val="4089406997"/>
                    </a:ext>
                  </a:extLst>
                </a:gridCol>
              </a:tblGrid>
              <a:tr h="209358"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/ Year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of Paper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 / Technique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Contribution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extLst>
                  <a:ext uri="{0D108BD9-81ED-4DB2-BD59-A6C34878D82A}">
                    <a16:rowId xmlns:a16="http://schemas.microsoft.com/office/drawing/2014/main" val="2073283945"/>
                  </a:ext>
                </a:extLst>
              </a:tr>
              <a:tr h="942106"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6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Trabelsi</a:t>
                      </a: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al., 2023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Attention Monitoring System for Classroom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+ computer vision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 real-time system to monitor students’ emotions, attention, and attendance using vision-based analytics.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extLst>
                  <a:ext uri="{0D108BD9-81ED-4DB2-BD59-A6C34878D82A}">
                    <a16:rowId xmlns:a16="http://schemas.microsoft.com/office/drawing/2014/main" val="3789699250"/>
                  </a:ext>
                </a:extLst>
              </a:tr>
              <a:tr h="1054452"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Chen et al., 2023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Behavior Detection Based on Improved YOLOv8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YOLOv8 object detection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an improved YOLOv8 model for recognizing classroom behaviors such as writing, raising hands, and inattentiveness.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extLst>
                  <a:ext uri="{0D108BD9-81ED-4DB2-BD59-A6C34878D82A}">
                    <a16:rowId xmlns:a16="http://schemas.microsoft.com/office/drawing/2014/main" val="4023141625"/>
                  </a:ext>
                </a:extLst>
              </a:tr>
              <a:tr h="785090"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Wang et al., 2023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Classroom Behavior Detection with Deformable DETR and Swin Transformer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Transformer-based detection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Combined Swin Transformer and Deformable DETR to detect student actions and analyze classroom interactions.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extLst>
                  <a:ext uri="{0D108BD9-81ED-4DB2-BD59-A6C34878D82A}">
                    <a16:rowId xmlns:a16="http://schemas.microsoft.com/office/drawing/2014/main" val="1341639860"/>
                  </a:ext>
                </a:extLst>
              </a:tr>
              <a:tr h="837428"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Jia et al., 2024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Behavior Recognition in Classroom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YOLOv5 + OpenPose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 deep learning model combining YOLOv5 and pose estimation to detect student activities and engagement.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extLst>
                  <a:ext uri="{0D108BD9-81ED-4DB2-BD59-A6C34878D82A}">
                    <a16:rowId xmlns:a16="http://schemas.microsoft.com/office/drawing/2014/main" val="2147501835"/>
                  </a:ext>
                </a:extLst>
              </a:tr>
              <a:tr h="785090"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Mahmood et al., 2024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Measuring Student Engagement through Behavioral and Emotional Features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tc>
                  <a:txBody>
                    <a:bodyPr/>
                    <a:lstStyle/>
                    <a:p>
                      <a:pPr algn="just" fontAlgn="ctr"/>
                      <a:r>
                        <a:rPr lang="en-US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Developed a framework to analyze both emotional and behavioral engagement of students during lectures.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42" marR="1242" marT="1242" marB="0" anchor="ctr"/>
                </a:tc>
                <a:extLst>
                  <a:ext uri="{0D108BD9-81ED-4DB2-BD59-A6C34878D82A}">
                    <a16:rowId xmlns:a16="http://schemas.microsoft.com/office/drawing/2014/main" val="1410759828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6120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 specifications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capture classroom video using cameras.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automatically detect and mark student attendance.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analyze student behavior and engagement during the lecture.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generate reports on attendance and classroom activity.</a:t>
            </a:r>
          </a:p>
          <a:p>
            <a:pPr algn="just"/>
            <a:r>
              <a:rPr lang="en-US" sz="1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Non-Functional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process data in real time with high accuracy.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ensure data privacy and security.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be scalable for multiple classrooms.</a:t>
            </a:r>
          </a:p>
          <a:p>
            <a:pPr lvl="1"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provide a user-friendly interface for teachers and administrators</a:t>
            </a:r>
            <a:r>
              <a:rPr lang="en-US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7257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SRS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Contd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…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Computer/Laptop with sufficient processing capability</a:t>
            </a: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CCTV or classroom camera</a:t>
            </a: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connectivity</a:t>
            </a: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device for saving data</a:t>
            </a:r>
          </a:p>
          <a:p>
            <a:r>
              <a:rPr lang="en-US" sz="17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Requirements</a:t>
            </a: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/ Linux</a:t>
            </a: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Python</a:t>
            </a: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TensorFlow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MySQL / MongoDB</a:t>
            </a:r>
          </a:p>
          <a:p>
            <a:pPr lvl="1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Tools: VS Code / </a:t>
            </a:r>
            <a:r>
              <a:rPr lang="en-US" sz="1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</a:t>
            </a:r>
          </a:p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841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Functional requirements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Classroom Video Capture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capture real-time video from classroom cameras to monitor student activities during lectures. The captured video should be processed continuously for analysis.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Automatic Attendance Detection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automatically detect and record student attendance using facial recognition or student identification methods. The attendance data should be stored in a database for future reference.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Student Behavior Detection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identify and classify student behaviors such as listening, writing, raising hands, using mobile phones, or being inattentive using computer vision techniques.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Student Engagement Analysis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should analyze student engagement levels by detecting head pose, eye direction, or body posture to determine attentiveness during the lecture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334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9958" y="1737360"/>
            <a:ext cx="9909638" cy="4022725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981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flow diagram</a:t>
            </a:r>
            <a:endParaRPr lang="en-IN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0865" y="1588504"/>
            <a:ext cx="7904243" cy="5269496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3562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 diagram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82068" y="1737360"/>
            <a:ext cx="7640397" cy="509359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79042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2853" y="1737360"/>
            <a:ext cx="7517605" cy="5011737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89650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9119" y="286603"/>
            <a:ext cx="6523979" cy="6035604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3231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Implementation- Algorithm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15</a:t>
            </a:fld>
            <a:endParaRPr lang="en-IN"/>
          </a:p>
        </p:txBody>
      </p:sp>
      <p:sp>
        <p:nvSpPr>
          <p:cNvPr id="10" name="Content Placeholder 9"/>
          <p:cNvSpPr>
            <a:spLocks noGrp="1"/>
          </p:cNvSpPr>
          <p:nvPr>
            <p:ph idx="1"/>
          </p:nvPr>
        </p:nvSpPr>
        <p:spPr>
          <a:xfrm>
            <a:off x="498070" y="1737360"/>
            <a:ext cx="10058400" cy="402336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Start</a:t>
            </a:r>
          </a:p>
          <a:p>
            <a:pPr>
              <a:lnSpc>
                <a:spcPct val="12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Initialize classroom camera</a:t>
            </a:r>
          </a:p>
          <a:p>
            <a:pPr>
              <a:lnSpc>
                <a:spcPct val="12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Capture real-time video stream</a:t>
            </a:r>
          </a:p>
          <a:p>
            <a:pPr>
              <a:lnSpc>
                <a:spcPct val="120000"/>
              </a:lnSpc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WHILE class session is active DO</a:t>
            </a:r>
          </a:p>
          <a:p>
            <a:pPr>
              <a:lnSpc>
                <a:spcPct val="12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     Extract video frames from stream</a:t>
            </a:r>
          </a:p>
          <a:p>
            <a:pPr>
              <a:lnSpc>
                <a:spcPct val="12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 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Preprocess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 (resize, noise removal)</a:t>
            </a:r>
          </a:p>
          <a:p>
            <a:pPr>
              <a:lnSpc>
                <a:spcPct val="120000"/>
              </a:lnSpc>
            </a:pP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     Detect faces in the frame</a:t>
            </a:r>
          </a:p>
          <a:p>
            <a:pPr>
              <a:lnSpc>
                <a:spcPct val="12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      FOR each detected face DO</a:t>
            </a:r>
          </a:p>
          <a:p>
            <a:pPr>
              <a:lnSpc>
                <a:spcPct val="12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           Recognize student using face recognition model</a:t>
            </a:r>
          </a:p>
          <a:p>
            <a:pPr>
              <a:lnSpc>
                <a:spcPct val="120000"/>
              </a:lnSpc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          Mark attendance in </a:t>
            </a:r>
            <a:r>
              <a:rPr lang="en-I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471684" y="2047909"/>
            <a:ext cx="6096000" cy="3712811"/>
          </a:xfrm>
          <a:prstGeom prst="rect">
            <a:avLst/>
          </a:prstGeom>
        </p:spPr>
        <p:txBody>
          <a:bodyPr>
            <a:spAutoFit/>
          </a:bodyPr>
          <a:lstStyle/>
          <a:p>
            <a:pPr marL="91440" indent="-91440" defTabSz="914400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     END FOR</a:t>
            </a:r>
          </a:p>
          <a:p>
            <a:pPr marL="91440" indent="-91440" defTabSz="914400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   Detect student </a:t>
            </a:r>
            <a:r>
              <a:rPr lang="en-I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behaviors</a:t>
            </a:r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(writing, sleeping, mobile usage)</a:t>
            </a:r>
          </a:p>
          <a:p>
            <a:pPr marL="91440" indent="-91440" defTabSz="914400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13.     </a:t>
            </a:r>
            <a:r>
              <a:rPr lang="en-I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engagement using head pose / eye gaze detection</a:t>
            </a:r>
          </a:p>
          <a:p>
            <a:pPr marL="91440" indent="-91440" defTabSz="914400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    Store attendance and </a:t>
            </a:r>
            <a:r>
              <a:rPr lang="en-IN" sz="16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in database</a:t>
            </a:r>
          </a:p>
          <a:p>
            <a:pPr marL="91440" indent="-91440" defTabSz="914400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15. END WHILE</a:t>
            </a:r>
          </a:p>
          <a:p>
            <a:pPr marL="91440" indent="-91440" defTabSz="914400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I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Generate </a:t>
            </a:r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classroom monitoring report</a:t>
            </a:r>
          </a:p>
          <a:p>
            <a:pPr marL="91440" indent="-91440" defTabSz="914400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17. Display report to teacher and administrator</a:t>
            </a:r>
          </a:p>
          <a:p>
            <a:pPr marL="91440" indent="-91440" defTabSz="914400">
              <a:lnSpc>
                <a:spcPct val="12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</a:pPr>
            <a:r>
              <a:rPr lang="en-IN" sz="16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en-IN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Stop</a:t>
            </a:r>
          </a:p>
        </p:txBody>
      </p:sp>
    </p:spTree>
    <p:extLst>
      <p:ext uri="{BB962C8B-B14F-4D97-AF65-F5344CB8AC3E}">
        <p14:creationId xmlns:p14="http://schemas.microsoft.com/office/powerpoint/2010/main" val="37751106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083" y="667603"/>
            <a:ext cx="10058400" cy="1450757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Model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16</a:t>
            </a:fld>
            <a:endParaRPr lang="en-IN"/>
          </a:p>
        </p:txBody>
      </p:sp>
      <p:pic>
        <p:nvPicPr>
          <p:cNvPr id="17" name="Content Placeholder 1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6653" y="1693864"/>
            <a:ext cx="4667004" cy="4648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5061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Show the Coding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1175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Demo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18945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6014789"/>
              </p:ext>
            </p:extLst>
          </p:nvPr>
        </p:nvGraphicFramePr>
        <p:xfrm>
          <a:off x="648582" y="1846263"/>
          <a:ext cx="10563900" cy="41699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60650">
                  <a:extLst>
                    <a:ext uri="{9D8B030D-6E8A-4147-A177-3AD203B41FA5}">
                      <a16:colId xmlns:a16="http://schemas.microsoft.com/office/drawing/2014/main" val="309229307"/>
                    </a:ext>
                  </a:extLst>
                </a:gridCol>
                <a:gridCol w="1760650">
                  <a:extLst>
                    <a:ext uri="{9D8B030D-6E8A-4147-A177-3AD203B41FA5}">
                      <a16:colId xmlns:a16="http://schemas.microsoft.com/office/drawing/2014/main" val="3119474152"/>
                    </a:ext>
                  </a:extLst>
                </a:gridCol>
                <a:gridCol w="1760650">
                  <a:extLst>
                    <a:ext uri="{9D8B030D-6E8A-4147-A177-3AD203B41FA5}">
                      <a16:colId xmlns:a16="http://schemas.microsoft.com/office/drawing/2014/main" val="3844404926"/>
                    </a:ext>
                  </a:extLst>
                </a:gridCol>
                <a:gridCol w="1760650">
                  <a:extLst>
                    <a:ext uri="{9D8B030D-6E8A-4147-A177-3AD203B41FA5}">
                      <a16:colId xmlns:a16="http://schemas.microsoft.com/office/drawing/2014/main" val="1379852724"/>
                    </a:ext>
                  </a:extLst>
                </a:gridCol>
                <a:gridCol w="1760650">
                  <a:extLst>
                    <a:ext uri="{9D8B030D-6E8A-4147-A177-3AD203B41FA5}">
                      <a16:colId xmlns:a16="http://schemas.microsoft.com/office/drawing/2014/main" val="104241338"/>
                    </a:ext>
                  </a:extLst>
                </a:gridCol>
                <a:gridCol w="1760650">
                  <a:extLst>
                    <a:ext uri="{9D8B030D-6E8A-4147-A177-3AD203B41FA5}">
                      <a16:colId xmlns:a16="http://schemas.microsoft.com/office/drawing/2014/main" val="4193655934"/>
                    </a:ext>
                  </a:extLst>
                </a:gridCol>
              </a:tblGrid>
              <a:tr h="29798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Case ID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49" marR="7449" marT="74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Module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49" marR="7449" marT="74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Scenario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49" marR="7449" marT="74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Input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49" marR="7449" marT="74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Expected Output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49" marR="7449" marT="7449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Result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49" marR="7449" marT="7449" marB="0" anchor="ctr"/>
                </a:tc>
                <a:extLst>
                  <a:ext uri="{0D108BD9-81ED-4DB2-BD59-A6C34878D82A}">
                    <a16:rowId xmlns:a16="http://schemas.microsoft.com/office/drawing/2014/main" val="776854339"/>
                  </a:ext>
                </a:extLst>
              </a:tr>
              <a:tr h="104292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TC01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49" marR="7449" marT="7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Video Capture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49" marR="7449" marT="7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Check whether camera captures live classroom video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49" marR="7449" marT="7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Camera ON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49" marR="7449" marT="7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Live video stream displayed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49" marR="7449" marT="7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Pass/Fail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49" marR="7449" marT="7449" marB="0" anchor="ctr"/>
                </a:tc>
                <a:extLst>
                  <a:ext uri="{0D108BD9-81ED-4DB2-BD59-A6C34878D82A}">
                    <a16:rowId xmlns:a16="http://schemas.microsoft.com/office/drawing/2014/main" val="3691621570"/>
                  </a:ext>
                </a:extLst>
              </a:tr>
              <a:tr h="104292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TC02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49" marR="7449" marT="7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 Detection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49" marR="7449" marT="7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 student faces from frame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49" marR="7449" marT="7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Classroom image/video frame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49" marR="7449" marT="7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All visible faces detected with bounding boxes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49" marR="7449" marT="7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Pass/Fail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49" marR="7449" marT="7449" marB="0" anchor="ctr"/>
                </a:tc>
                <a:extLst>
                  <a:ext uri="{0D108BD9-81ED-4DB2-BD59-A6C34878D82A}">
                    <a16:rowId xmlns:a16="http://schemas.microsoft.com/office/drawing/2014/main" val="651009246"/>
                  </a:ext>
                </a:extLst>
              </a:tr>
              <a:tr h="74494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TC03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49" marR="7449" marT="7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Face Recognition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49" marR="7449" marT="7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Recognize registered student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49" marR="7449" marT="7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Known student face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49" marR="7449" marT="7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 name/ID displayed correctly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49" marR="7449" marT="7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Pass/Fail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49" marR="7449" marT="7449" marB="0" anchor="ctr"/>
                </a:tc>
                <a:extLst>
                  <a:ext uri="{0D108BD9-81ED-4DB2-BD59-A6C34878D82A}">
                    <a16:rowId xmlns:a16="http://schemas.microsoft.com/office/drawing/2014/main" val="1633167082"/>
                  </a:ext>
                </a:extLst>
              </a:tr>
              <a:tr h="89393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TC04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49" marR="7449" marT="7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Attendance Marking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49" marR="7449" marT="7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Mark attendance for recognized student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49" marR="7449" marT="7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Recognized student face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49" marR="7449" marT="7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Attendance stored in database/file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49" marR="7449" marT="7449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Pass/Fail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7449" marR="7449" marT="7449" marB="0" anchor="ctr"/>
                </a:tc>
                <a:extLst>
                  <a:ext uri="{0D108BD9-81ED-4DB2-BD59-A6C34878D82A}">
                    <a16:rowId xmlns:a16="http://schemas.microsoft.com/office/drawing/2014/main" val="3831346681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2053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Results Snapshots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97311" y="1864950"/>
            <a:ext cx="4108422" cy="273894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20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9767" y="1864950"/>
            <a:ext cx="4220095" cy="2813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9429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Comparative Analysis with existing and proposed methods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1427294"/>
              </p:ext>
            </p:extLst>
          </p:nvPr>
        </p:nvGraphicFramePr>
        <p:xfrm>
          <a:off x="786063" y="1846263"/>
          <a:ext cx="10764252" cy="40231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91063">
                  <a:extLst>
                    <a:ext uri="{9D8B030D-6E8A-4147-A177-3AD203B41FA5}">
                      <a16:colId xmlns:a16="http://schemas.microsoft.com/office/drawing/2014/main" val="202715786"/>
                    </a:ext>
                  </a:extLst>
                </a:gridCol>
                <a:gridCol w="2691063">
                  <a:extLst>
                    <a:ext uri="{9D8B030D-6E8A-4147-A177-3AD203B41FA5}">
                      <a16:colId xmlns:a16="http://schemas.microsoft.com/office/drawing/2014/main" val="1880646099"/>
                    </a:ext>
                  </a:extLst>
                </a:gridCol>
                <a:gridCol w="2691063">
                  <a:extLst>
                    <a:ext uri="{9D8B030D-6E8A-4147-A177-3AD203B41FA5}">
                      <a16:colId xmlns:a16="http://schemas.microsoft.com/office/drawing/2014/main" val="3962720746"/>
                    </a:ext>
                  </a:extLst>
                </a:gridCol>
                <a:gridCol w="2691063">
                  <a:extLst>
                    <a:ext uri="{9D8B030D-6E8A-4147-A177-3AD203B41FA5}">
                      <a16:colId xmlns:a16="http://schemas.microsoft.com/office/drawing/2014/main" val="282196139"/>
                    </a:ext>
                  </a:extLst>
                </a:gridCol>
              </a:tblGrid>
              <a:tr h="89470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  <a:endParaRPr lang="en-IN" sz="2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" marR="9143" marT="91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Attendance Accuracy (%)</a:t>
                      </a:r>
                      <a:endParaRPr lang="en-IN" sz="2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" marR="9143" marT="91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Behavior Detection Accuracy (%)</a:t>
                      </a:r>
                      <a:endParaRPr lang="en-IN" sz="2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" marR="9143" marT="9143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Response Time (s)</a:t>
                      </a:r>
                      <a:endParaRPr lang="en-IN" sz="2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" marR="9143" marT="9143" marB="0" anchor="ctr"/>
                </a:tc>
                <a:extLst>
                  <a:ext uri="{0D108BD9-81ED-4DB2-BD59-A6C34878D82A}">
                    <a16:rowId xmlns:a16="http://schemas.microsoft.com/office/drawing/2014/main" val="3374662271"/>
                  </a:ext>
                </a:extLst>
              </a:tr>
              <a:tr h="598324"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Monitoring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" marR="9143" marT="914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2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" marR="9143" marT="914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" marR="9143" marT="914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" marR="9143" marT="9143" marB="0" anchor="ctr"/>
                </a:tc>
                <a:extLst>
                  <a:ext uri="{0D108BD9-81ED-4DB2-BD59-A6C34878D82A}">
                    <a16:rowId xmlns:a16="http://schemas.microsoft.com/office/drawing/2014/main" val="888942452"/>
                  </a:ext>
                </a:extLst>
              </a:tr>
              <a:tr h="598324"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Basic CCTV Monitoring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" marR="9143" marT="914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" marR="9143" marT="914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" marR="9143" marT="914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" marR="9143" marT="9143" marB="0" anchor="ctr"/>
                </a:tc>
                <a:extLst>
                  <a:ext uri="{0D108BD9-81ED-4DB2-BD59-A6C34878D82A}">
                    <a16:rowId xmlns:a16="http://schemas.microsoft.com/office/drawing/2014/main" val="3465761987"/>
                  </a:ext>
                </a:extLst>
              </a:tr>
              <a:tr h="894707"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Traditional ML-Based Monitoring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" marR="9143" marT="914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88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" marR="9143" marT="914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" marR="9143" marT="914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" marR="9143" marT="9143" marB="0" anchor="ctr"/>
                </a:tc>
                <a:extLst>
                  <a:ext uri="{0D108BD9-81ED-4DB2-BD59-A6C34878D82A}">
                    <a16:rowId xmlns:a16="http://schemas.microsoft.com/office/drawing/2014/main" val="1887580187"/>
                  </a:ext>
                </a:extLst>
              </a:tr>
              <a:tr h="894707">
                <a:tc>
                  <a:txBody>
                    <a:bodyPr/>
                    <a:lstStyle/>
                    <a:p>
                      <a:pPr algn="l" fontAlgn="ctr"/>
                      <a:r>
                        <a:rPr lang="en-I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AI-Based Monitoring</a:t>
                      </a:r>
                      <a:endParaRPr lang="en-IN" sz="2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" marR="9143" marT="914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</a:t>
                      </a:r>
                      <a:endParaRPr lang="en-IN" sz="2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" marR="9143" marT="914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</a:t>
                      </a:r>
                      <a:endParaRPr lang="en-IN" sz="24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" marR="9143" marT="9143" marB="0" anchor="ctr"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IN" sz="2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</a:t>
                      </a:r>
                      <a:endParaRPr lang="en-IN" sz="24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3" marR="9143" marT="9143" marB="0" anchor="ctr"/>
                </a:tc>
                <a:extLst>
                  <a:ext uri="{0D108BD9-81ED-4DB2-BD59-A6C34878D82A}">
                    <a16:rowId xmlns:a16="http://schemas.microsoft.com/office/drawing/2014/main" val="3731282201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20404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8302" y="866275"/>
            <a:ext cx="6652545" cy="5002714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76899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Scope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23</a:t>
            </a:fld>
            <a:endParaRPr lang="en-IN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04800" y="1845734"/>
            <a:ext cx="11534274" cy="4298392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AI-based classroom monitoring system effectively automates attendance, behavior detection, and engagement analysis using computer vision techniques.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improves classroom management and monitoring accuracy compared to traditional manual methods.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analysis helps teachers obtain instant insights into student participation and attentiveness.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solution demonstrates efficient performance, faster response time, and improved monitoring capabilities.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advanced deep learning models to improve behavior and emotion recognition accuracy.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multi-camera systems for monitoring large classrooms more effectively.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Incorporation of speech analysis and audio-based engagement detection.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as a cloud-based smart classroom analytics platform for large educational institutions.</a:t>
            </a:r>
          </a:p>
          <a:p>
            <a:pPr algn="just"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37169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24</a:t>
            </a:fld>
            <a:endParaRPr lang="en-IN"/>
          </a:p>
        </p:txBody>
      </p:sp>
      <p:sp>
        <p:nvSpPr>
          <p:cNvPr id="8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097280" y="1935063"/>
            <a:ext cx="987552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Dalal, N., &amp; Triggs, B. (2005). Histograms of oriented gradients for human detection. </a:t>
            </a:r>
            <a:r>
              <a:rPr kumimoji="0" lang="en-US" altLang="en-US" sz="12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Proceedings of the IEEE Conference on Computer Vision and Pattern Recognition (CVPR)</a:t>
            </a: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886–893.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Redmon, J., Divvala, S., Girshick, R., &amp; Farhadi, A. (2016). You only look once: Unified, real-time object detection. </a:t>
            </a:r>
            <a:r>
              <a:rPr kumimoji="0" lang="en-US" altLang="en-US" sz="12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Proceedings of the IEEE Conference on Computer Vision and Pattern Recognition (CVPR)</a:t>
            </a: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779–788.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He, K., Zhang, X., Ren, S., &amp; Sun, J. (2016). Deep residual learning for image recognition. </a:t>
            </a:r>
            <a:r>
              <a:rPr kumimoji="0" lang="en-US" altLang="en-US" sz="12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Proceedings of the IEEE Conference on Computer Vision and Pattern Recognition (CVPR)</a:t>
            </a: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770–778.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Zhang, Z., Luo, P., Loy, C. C., &amp; Tang, X. (2014). Facial landmark detection by deep multi-task learning. </a:t>
            </a:r>
            <a:r>
              <a:rPr kumimoji="0" lang="en-US" altLang="en-US" sz="12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European Conference on Computer Vision (ECCV)</a:t>
            </a: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94–108.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Goodfellow, I., Bengio, Y., &amp; Courville, A. (2016). </a:t>
            </a:r>
            <a:r>
              <a:rPr kumimoji="0" lang="en-US" altLang="en-US" sz="12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learning</a:t>
            </a: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MIT Press.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Howard, A. G., Zhu, M., Chen, B., Kalenichenko, D., Wang, W., Weyand, T., &amp; Adam, H. (2017). MobileNets: Efficient convolutional neural networks for mobile vision applications. </a:t>
            </a:r>
            <a:r>
              <a:rPr kumimoji="0" lang="en-US" altLang="en-US" sz="12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arXiv preprint arXiv:1704.04861</a:t>
            </a: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Baltrusaitis, T., Robinson, P., &amp; Morency, L. P. (2018). OpenFace: An open source facial behavior analysis toolkit. </a:t>
            </a:r>
            <a:r>
              <a:rPr kumimoji="0" lang="en-US" altLang="en-US" sz="12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IEEE Winter Conference on Applications of Computer Vision</a:t>
            </a: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1–10.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D’Mello, S., &amp; Graesser, A. (2012). Dynamics of affective states during complex learning. </a:t>
            </a:r>
            <a:r>
              <a:rPr kumimoji="0" lang="en-US" altLang="en-US" sz="12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Learning and Instruction, 22</a:t>
            </a: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(2), 145–157.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Whitehill, J., Serpell, Z., Lin, Y. C., Foster, A., &amp; Movellan, J. (2014). The faces of engagement: Automatic recognition of student engagement from facial expressions. </a:t>
            </a:r>
            <a:r>
              <a:rPr kumimoji="0" lang="en-US" altLang="en-US" sz="12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IEEE Transactions on Affective Computing, 5</a:t>
            </a: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(1), 86–98.</a:t>
            </a:r>
          </a:p>
          <a:p>
            <a:pPr marL="228600" marR="0" lvl="0" indent="-2286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Chen, X., Zhang, H., &amp; Li, Y. (2020). Deep learning-based student behavior recognition in classroom environments. </a:t>
            </a:r>
            <a:r>
              <a:rPr kumimoji="0" lang="en-US" altLang="en-US" sz="1200" b="0" i="1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IEEE Access, 8</a:t>
            </a:r>
            <a:r>
              <a:rPr kumimoji="0" lang="en-US" altLang="en-US" sz="12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123984–123993.</a:t>
            </a:r>
          </a:p>
        </p:txBody>
      </p:sp>
    </p:spTree>
    <p:extLst>
      <p:ext uri="{BB962C8B-B14F-4D97-AF65-F5344CB8AC3E}">
        <p14:creationId xmlns:p14="http://schemas.microsoft.com/office/powerpoint/2010/main" val="8742109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Papers published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CB3D1-A5F5-4A5E-881B-CE588BFD3634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FD78-8DE1-44B0-BD44-E067D054697C}" type="slidenum">
              <a:rPr lang="en-IN" smtClean="0"/>
              <a:pPr/>
              <a:t>25</a:t>
            </a:fld>
            <a:endParaRPr lang="en-IN"/>
          </a:p>
        </p:txBody>
      </p:sp>
      <p:sp>
        <p:nvSpPr>
          <p:cNvPr id="7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82502" y="2080395"/>
            <a:ext cx="9611958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Parkavi</a:t>
            </a:r>
            <a:r>
              <a:rPr kumimoji="0" lang="en-US" alt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A., Alex S.A., </a:t>
            </a:r>
            <a:r>
              <a:rPr kumimoji="0" lang="en-US" altLang="en-US" sz="14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Pushpa</a:t>
            </a:r>
            <a:r>
              <a:rPr kumimoji="0" lang="en-US" alt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Latha</a:t>
            </a:r>
            <a:r>
              <a:rPr kumimoji="0" lang="en-US" alt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“Deep Learning Based Classroom Management System for Student </a:t>
            </a:r>
            <a:r>
              <a:rPr kumimoji="0" lang="en-US" altLang="en-US" sz="140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Behaviour</a:t>
            </a:r>
            <a:r>
              <a:rPr kumimoji="0" lang="en-US" altLang="en-US" sz="140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Detection.”</a:t>
            </a:r>
            <a:r>
              <a:rPr kumimoji="0" lang="en-US" alt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International Conference on Artificial Intelligence and Data Analytics (AIDA), 2024.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4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Parkavi</a:t>
            </a:r>
            <a:r>
              <a:rPr kumimoji="0" lang="en-US" alt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A., Alex S.A., et al.</a:t>
            </a:r>
            <a:br>
              <a:rPr kumimoji="0" lang="en-US" alt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“Drone Based Intelligent System for Monitoring Social Distancing Using YOLOv5 and YOLOv6.”</a:t>
            </a:r>
            <a:r>
              <a:rPr kumimoji="0" lang="en-US" alt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International Conference on Computational Intelligence and Communication Technologies (CICT), 2024.</a:t>
            </a:r>
          </a:p>
        </p:txBody>
      </p:sp>
    </p:spTree>
    <p:extLst>
      <p:ext uri="{BB962C8B-B14F-4D97-AF65-F5344CB8AC3E}">
        <p14:creationId xmlns:p14="http://schemas.microsoft.com/office/powerpoint/2010/main" val="15728090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D0D648-989B-4034-9BD3-6FBF9A769E5B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197" y="879082"/>
            <a:ext cx="10450286" cy="4979176"/>
          </a:xfrm>
        </p:spPr>
        <p:txBody>
          <a:bodyPr>
            <a:no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1.Introduction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2.Problem Statement 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3.Objectives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4.Literature Survey </a:t>
            </a: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put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 tabular </a:t>
            </a: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form(title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 , </a:t>
            </a:r>
            <a:r>
              <a:rPr lang="en-IN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year,technique</a:t>
            </a: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2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result,discussion</a:t>
            </a: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future scope/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adv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dis ( only very recent </a:t>
            </a: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papers(2024,2025))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5.Software Requirement Specifications 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H/W,S/W required)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 System </a:t>
            </a: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HLD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general architecture diagram ,Data flow diagram , functional diagram. LLD- UML </a:t>
            </a: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diagrams, Proposed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Methodology/Approach / Solution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 Diagram : ( Clear detailed schematic / block diagram / flow chart depicting the proposed concept / solution 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7.Implementation 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pseudocode/algorithms /mathematical model//code snippets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different 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modules/demo)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8.Testing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(test cases)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Results &amp; Performance analysis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(snapshots, comparative &amp; efficiency analysis in table, graph, formats)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10.Concusion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Future work </a:t>
            </a:r>
            <a:endParaRPr lang="en-US" sz="1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11.References</a:t>
            </a:r>
          </a:p>
          <a:p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(APA 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style</a:t>
            </a:r>
            <a:r>
              <a:rPr lang="en-IN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sz="1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12. Published paper 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0D42B-D3F3-45B4-B8EF-0FCE8B6129A3}" type="datetime1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Department of Computer Science and Engineering</a:t>
            </a:r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Custom 1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7030A0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1055</TotalTime>
  <Words>1674</Words>
  <Application>Microsoft Office PowerPoint</Application>
  <PresentationFormat>Widescreen</PresentationFormat>
  <Paragraphs>297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Times New Roman</vt:lpstr>
      <vt:lpstr>Retrospect</vt:lpstr>
      <vt:lpstr>  &lt;&lt;Project Title: AI-Based Smart Classroom Monitoring System for Student Attendance, Attentiveness, and Behavior Analysis &gt;&gt; (Date)  </vt:lpstr>
      <vt:lpstr>Agenda</vt:lpstr>
      <vt:lpstr>Introduction </vt:lpstr>
      <vt:lpstr>Problem statement</vt:lpstr>
      <vt:lpstr>Objectives</vt:lpstr>
      <vt:lpstr>Literature survey</vt:lpstr>
      <vt:lpstr>Software requirement specifications</vt:lpstr>
      <vt:lpstr>SRS Contd…</vt:lpstr>
      <vt:lpstr>Detailed Functional requirements</vt:lpstr>
      <vt:lpstr>System design</vt:lpstr>
      <vt:lpstr>Data flow diagram</vt:lpstr>
      <vt:lpstr>Functional diagram</vt:lpstr>
      <vt:lpstr>UML Diagram</vt:lpstr>
      <vt:lpstr>PowerPoint Presentation</vt:lpstr>
      <vt:lpstr>Implementation- Algorithm</vt:lpstr>
      <vt:lpstr>Mathematical Model </vt:lpstr>
      <vt:lpstr>Show the Coding</vt:lpstr>
      <vt:lpstr>Demo</vt:lpstr>
      <vt:lpstr>Testing</vt:lpstr>
      <vt:lpstr>Results Snapshots</vt:lpstr>
      <vt:lpstr>Performance Comparative Analysis with existing and proposed methods</vt:lpstr>
      <vt:lpstr>PowerPoint Presentation</vt:lpstr>
      <vt:lpstr>Conclusion and Future Scope</vt:lpstr>
      <vt:lpstr>References</vt:lpstr>
      <vt:lpstr>Papers published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Sanjeetha R</dc:creator>
  <cp:lastModifiedBy>ADMIN</cp:lastModifiedBy>
  <cp:revision>146</cp:revision>
  <dcterms:created xsi:type="dcterms:W3CDTF">2020-08-26T05:56:20Z</dcterms:created>
  <dcterms:modified xsi:type="dcterms:W3CDTF">2026-03-10T05:50:11Z</dcterms:modified>
</cp:coreProperties>
</file>