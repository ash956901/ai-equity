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8" r:id="rId1"/>
  </p:sldMasterIdLst>
  <p:notesMasterIdLst>
    <p:notesMasterId r:id="rId24"/>
  </p:notesMasterIdLst>
  <p:sldIdLst>
    <p:sldId id="411" r:id="rId2"/>
    <p:sldId id="415" r:id="rId3"/>
    <p:sldId id="416" r:id="rId4"/>
    <p:sldId id="417" r:id="rId5"/>
    <p:sldId id="418" r:id="rId6"/>
    <p:sldId id="419" r:id="rId7"/>
    <p:sldId id="420" r:id="rId8"/>
    <p:sldId id="421" r:id="rId9"/>
    <p:sldId id="422" r:id="rId10"/>
    <p:sldId id="423" r:id="rId11"/>
    <p:sldId id="424" r:id="rId12"/>
    <p:sldId id="425" r:id="rId13"/>
    <p:sldId id="426" r:id="rId14"/>
    <p:sldId id="427" r:id="rId15"/>
    <p:sldId id="428" r:id="rId16"/>
    <p:sldId id="429" r:id="rId17"/>
    <p:sldId id="430" r:id="rId18"/>
    <p:sldId id="431" r:id="rId19"/>
    <p:sldId id="437" r:id="rId20"/>
    <p:sldId id="436" r:id="rId21"/>
    <p:sldId id="438" r:id="rId22"/>
    <p:sldId id="41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6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243F0-1FB2-41E4-961B-8CAB2AED1024}" type="datetimeFigureOut">
              <a:rPr lang="en-IN" smtClean="0"/>
              <a:pPr/>
              <a:t>31-03-2026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20133-9643-4EF8-94CA-FEF99B36DC3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009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B117-397A-4EB5-8E81-38A5F438CFAC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C728CEA0-BA7F-4BA3-B201-6B7A8B3DF1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62028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4780520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2" descr="C:\Users\Srinidhi\Desktop\logo.png">
            <a:extLst>
              <a:ext uri="{FF2B5EF4-FFF2-40B4-BE49-F238E27FC236}">
                <a16:creationId xmlns:a16="http://schemas.microsoft.com/office/drawing/2014/main" id="{5E2C67C7-C385-4A44-A78F-D95F8B3254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575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092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3F32D-0DF3-41ED-AE57-C409384007E6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6E4AAF7F-3876-4F6B-8901-E7673BBFDB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441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799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43F75-D3C1-4E9A-BA88-2EDB54456D7A}" type="datetime1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:a16="http://schemas.microsoft.com/office/drawing/2014/main" id="{EF3C39C1-9BAB-4C45-A144-CF8BF2E72B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9189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2344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A8DD7-5ED9-4BE0-9903-CF33B818FA46}" type="datetime1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:a16="http://schemas.microsoft.com/office/drawing/2014/main" id="{1B300F68-EEC8-479F-89B4-B66DB0F421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013" y="12104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0810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3E156-EABD-4988-BC9A-7E600825328D}" type="datetime1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2" descr="C:\Users\Srinidhi\Desktop\logo.png">
            <a:extLst>
              <a:ext uri="{FF2B5EF4-FFF2-40B4-BE49-F238E27FC236}">
                <a16:creationId xmlns:a16="http://schemas.microsoft.com/office/drawing/2014/main" id="{6720B71A-9CF9-4970-96CA-352F2D5F33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0415" y="34776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7649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ECFD-B260-44BD-8EF3-F62980FE5BEA}" type="datetime1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:a16="http://schemas.microsoft.com/office/drawing/2014/main" id="{7393EDB9-65C6-42AA-B582-C92413F0DE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867" y="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047425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7CE1555-BFC1-4669-9277-34A3B11340A5}" type="datetime1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6BF8E43F-406B-489A-A07B-CBBB6CD8B6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729" y="-48825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2333161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210E-A921-4BE5-BB24-9A4BED858234}" type="datetime1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8D7279E7-0A06-4D9D-B018-700B7F4A33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3777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2133-5CE5-44EA-9252-8F64A5B069D0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2" descr="C:\Users\Srinidhi\Desktop\logo.png">
            <a:extLst>
              <a:ext uri="{FF2B5EF4-FFF2-40B4-BE49-F238E27FC236}">
                <a16:creationId xmlns:a16="http://schemas.microsoft.com/office/drawing/2014/main" id="{2BFF8954-070D-4352-AC3E-DD7D500D0A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281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6675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A564B-1CAC-450E-A787-30935552FB98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0" name="Picture 2" descr="C:\Users\Srinidhi\Desktop\logo.png">
            <a:extLst>
              <a:ext uri="{FF2B5EF4-FFF2-40B4-BE49-F238E27FC236}">
                <a16:creationId xmlns:a16="http://schemas.microsoft.com/office/drawing/2014/main" id="{F8681246-1AFA-47C1-8723-E212F3BD69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8927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588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AAF59DE-AB61-4710-BAC3-336F52DD7D52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23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49" y="1425836"/>
            <a:ext cx="11163300" cy="2362394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&lt;&lt;Project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Smart Classroom Monitoring System for Student Attendance, Attentiveness, and Behavior Analysis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&gt;&gt;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Date)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894115" y="135816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641BE-B7C9-4946-A565-227D0582DC3F}"/>
              </a:ext>
            </a:extLst>
          </p:cNvPr>
          <p:cNvSpPr txBox="1"/>
          <p:nvPr/>
        </p:nvSpPr>
        <p:spPr>
          <a:xfrm>
            <a:off x="8446348" y="4677086"/>
            <a:ext cx="3071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&lt;Guide name&gt; 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&lt;Designation&gt;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641BE-B7C9-4946-A565-227D0582DC3F}"/>
              </a:ext>
            </a:extLst>
          </p:cNvPr>
          <p:cNvSpPr txBox="1"/>
          <p:nvPr/>
        </p:nvSpPr>
        <p:spPr>
          <a:xfrm>
            <a:off x="1051152" y="4292365"/>
            <a:ext cx="4217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8456" y="1056503"/>
            <a:ext cx="109591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Project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CSP81      Credits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0:0:12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Term: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Feb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June 2025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9641BE-B7C9-4946-A565-227D0582DC3F}"/>
              </a:ext>
            </a:extLst>
          </p:cNvPr>
          <p:cNvSpPr txBox="1"/>
          <p:nvPr/>
        </p:nvSpPr>
        <p:spPr>
          <a:xfrm>
            <a:off x="4370274" y="4292365"/>
            <a:ext cx="42175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811083"/>
              </p:ext>
            </p:extLst>
          </p:nvPr>
        </p:nvGraphicFramePr>
        <p:xfrm>
          <a:off x="1148316" y="4753851"/>
          <a:ext cx="3221957" cy="1432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52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9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625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1600" b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usns</a:t>
                      </a:r>
                      <a:r>
                        <a:rPr lang="en-US" sz="16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&lt;names&gt;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625"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625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625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3919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2A57-80A3-8824-4E73-AF93B64BF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7B576-E4BB-59A2-6CA0-558ACF85A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280469" cy="46140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1.Introduction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2.Problem Statement 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3.Objectives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4.Literature Survey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 specifications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System design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 Testing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Results and Performance analysis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 Conclusion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Future Work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11.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12. Papers published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B8DE66-3C64-AEAF-5B34-FBDAB2641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22D287-4B27-3C76-4319-36DE8A3BA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7B04-4A9D-4F66-A709-26EAA7E0B4F8}" type="datetime1">
              <a:rPr lang="en-IN" smtClean="0"/>
              <a:t>31-03-2026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251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3411" y="1040027"/>
            <a:ext cx="10058400" cy="1020723"/>
          </a:xfrm>
        </p:spPr>
        <p:txBody>
          <a:bodyPr>
            <a:normAutofit fontScale="90000"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classroom monitoring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manual and difficult to manage in large classes.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automatically analyze classroom activities using computer vision and data analytics.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systems help track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attendance, student attention, and participation in real time.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classroom monitoring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teaching effectiveness and learning outcomes.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337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student attendance, attentiveness, and classroom behavior manually is difficult and time-consuming, especially in large classrooms. Teachers cannot continuously observe all students during a lecture, which may lead to missed insights about student engagement and participation. Existing classroom monitoring methods lack automated mechanisms to analyze classroom activities effectively. Therefore, there is a need for an AI-based system that can automatically monitor and analyze classroom behavior, attendance, and engagement to support better teaching and learning outcomes.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765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an AI-based system for automatic classroom monitoring.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record student attendance using computer vision techniques.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student engagement and attentiveness during classroom sessions.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and insights to help improve teaching and classroom management.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224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9551" y="845389"/>
            <a:ext cx="10058400" cy="152139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869166"/>
              </p:ext>
            </p:extLst>
          </p:nvPr>
        </p:nvGraphicFramePr>
        <p:xfrm>
          <a:off x="315887" y="1288473"/>
          <a:ext cx="11876113" cy="5032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639">
                  <a:extLst>
                    <a:ext uri="{9D8B030D-6E8A-4147-A177-3AD203B41FA5}">
                      <a16:colId xmlns:a16="http://schemas.microsoft.com/office/drawing/2014/main" val="3957473980"/>
                    </a:ext>
                  </a:extLst>
                </a:gridCol>
                <a:gridCol w="1830414">
                  <a:extLst>
                    <a:ext uri="{9D8B030D-6E8A-4147-A177-3AD203B41FA5}">
                      <a16:colId xmlns:a16="http://schemas.microsoft.com/office/drawing/2014/main" val="1354187454"/>
                    </a:ext>
                  </a:extLst>
                </a:gridCol>
                <a:gridCol w="2138531">
                  <a:extLst>
                    <a:ext uri="{9D8B030D-6E8A-4147-A177-3AD203B41FA5}">
                      <a16:colId xmlns:a16="http://schemas.microsoft.com/office/drawing/2014/main" val="292331515"/>
                    </a:ext>
                  </a:extLst>
                </a:gridCol>
                <a:gridCol w="3478392">
                  <a:extLst>
                    <a:ext uri="{9D8B030D-6E8A-4147-A177-3AD203B41FA5}">
                      <a16:colId xmlns:a16="http://schemas.microsoft.com/office/drawing/2014/main" val="1828951442"/>
                    </a:ext>
                  </a:extLst>
                </a:gridCol>
                <a:gridCol w="4079137">
                  <a:extLst>
                    <a:ext uri="{9D8B030D-6E8A-4147-A177-3AD203B41FA5}">
                      <a16:colId xmlns:a16="http://schemas.microsoft.com/office/drawing/2014/main" val="4089406997"/>
                    </a:ext>
                  </a:extLst>
                </a:gridCol>
              </a:tblGrid>
              <a:tr h="209358"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/ Year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Paper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Technique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extLst>
                  <a:ext uri="{0D108BD9-81ED-4DB2-BD59-A6C34878D82A}">
                    <a16:rowId xmlns:a16="http://schemas.microsoft.com/office/drawing/2014/main" val="2073283945"/>
                  </a:ext>
                </a:extLst>
              </a:tr>
              <a:tr h="942106"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Trabelsi</a:t>
                      </a: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2023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Attention Monitoring System for Classroom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+ computer vision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real-time system to monitor students’ emotions, attention, and attendance using vision-based analytics.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extLst>
                  <a:ext uri="{0D108BD9-81ED-4DB2-BD59-A6C34878D82A}">
                    <a16:rowId xmlns:a16="http://schemas.microsoft.com/office/drawing/2014/main" val="3789699250"/>
                  </a:ext>
                </a:extLst>
              </a:tr>
              <a:tr h="1054452"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et al., 2023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Behavior Detection Based on Improved YOLOv8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 object detection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an improved YOLOv8 model for recognizing classroom behaviors such as writing, raising hands, and inattentiveness.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extLst>
                  <a:ext uri="{0D108BD9-81ED-4DB2-BD59-A6C34878D82A}">
                    <a16:rowId xmlns:a16="http://schemas.microsoft.com/office/drawing/2014/main" val="4023141625"/>
                  </a:ext>
                </a:extLst>
              </a:tr>
              <a:tr h="785090"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et al., 2023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Classroom Behavior Detection with Deformable DETR and Swin Transformer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Transformer-based detection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Swin Transformer and Deformable DETR to detect student actions and analyze classroom interactions.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extLst>
                  <a:ext uri="{0D108BD9-81ED-4DB2-BD59-A6C34878D82A}">
                    <a16:rowId xmlns:a16="http://schemas.microsoft.com/office/drawing/2014/main" val="1341639860"/>
                  </a:ext>
                </a:extLst>
              </a:tr>
              <a:tr h="837428"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Jia et al., 2024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Behavior Recognition in Classroom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YOLOv5 + OpenPose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deep learning model combining YOLOv5 and pose estimation to detect student activities and engagement.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extLst>
                  <a:ext uri="{0D108BD9-81ED-4DB2-BD59-A6C34878D82A}">
                    <a16:rowId xmlns:a16="http://schemas.microsoft.com/office/drawing/2014/main" val="2147501835"/>
                  </a:ext>
                </a:extLst>
              </a:tr>
              <a:tr h="785090"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Mahmood et al., 2024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Measuring Student Engagement through Behavioral and Emotional Features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framework to analyze both emotional and behavioral engagement of students during lectures.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extLst>
                  <a:ext uri="{0D108BD9-81ED-4DB2-BD59-A6C34878D82A}">
                    <a16:rowId xmlns:a16="http://schemas.microsoft.com/office/drawing/2014/main" val="1410759828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12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 specifications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capture classroom video using cameras.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automatically detect and mark student attendance.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analyze student behavior and engagement during the lecture.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generate reports on attendance and classroom activity.</a:t>
            </a:r>
          </a:p>
          <a:p>
            <a:pPr algn="just"/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process data in real time with high accuracy.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ensure data privacy and security.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be scalable for multiple classrooms.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provide a user-friendly interface for teachers and administrators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257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SRS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Computer/Laptop with sufficient processing capability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 or classroom camera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connectivity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device for saving data</a:t>
            </a:r>
          </a:p>
          <a:p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/ Linux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 / MongoDB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 VS Code /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841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Functional requirements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Classroom Video Capture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capture real-time video from classroom cameras to monitor student activities during lectures. The captured video should be processed continuously for analysis.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Automatic Attendance Detection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automatically detect and record student attendance using facial recognition or student identification methods. The attendance data should be stored in a database for future reference.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Student Behavior Detection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identify and classify student behaviors such as listening, writing, raising hands, using mobile phones, or being inattentive using computer vision techniques.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Student Engagement Analysis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analyze student engagement levels by detecting head pose, eye direction, or body posture to determine attentiveness during the lecture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334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9958" y="1737360"/>
            <a:ext cx="9909638" cy="402272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981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</a:t>
            </a:r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0865" y="1588504"/>
            <a:ext cx="7904243" cy="5269496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356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2068" y="1737360"/>
            <a:ext cx="7640397" cy="509359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904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2853" y="1737360"/>
            <a:ext cx="7517605" cy="5011737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965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9119" y="286603"/>
            <a:ext cx="6523979" cy="603560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323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Implementation- Algorithm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98070" y="1737360"/>
            <a:ext cx="10058400" cy="402336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Initialize classroom camera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Capture real-time video stream</a:t>
            </a:r>
          </a:p>
          <a:p>
            <a:pPr>
              <a:lnSpc>
                <a:spcPct val="120000"/>
              </a:lnSpc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WHILE class session is active DO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    Extract video frames from stream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 (resize, noise removal)</a:t>
            </a:r>
          </a:p>
          <a:p>
            <a:pPr>
              <a:lnSpc>
                <a:spcPct val="120000"/>
              </a:lnSpc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Detect faces in the frame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     FOR each detected face DO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           Recognize student using face recognition model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          Mark attendance in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71684" y="2047909"/>
            <a:ext cx="6096000" cy="3712811"/>
          </a:xfrm>
          <a:prstGeom prst="rect">
            <a:avLst/>
          </a:prstGeom>
        </p:spPr>
        <p:txBody>
          <a:bodyPr>
            <a:spAutoFit/>
          </a:bodyPr>
          <a:lstStyle/>
          <a:p>
            <a:pPr marL="91440" indent="-91440" defTabSz="91440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    END FOR</a:t>
            </a:r>
          </a:p>
          <a:p>
            <a:pPr marL="91440" indent="-91440" defTabSz="91440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  Detect student </a:t>
            </a:r>
            <a:r>
              <a:rPr lang="en-I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(writing, sleeping, mobile usage)</a:t>
            </a:r>
          </a:p>
          <a:p>
            <a:pPr marL="91440" indent="-91440" defTabSz="91440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     </a:t>
            </a:r>
            <a:r>
              <a:rPr lang="en-I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engagement using head pose / eye gaze detection</a:t>
            </a:r>
          </a:p>
          <a:p>
            <a:pPr marL="91440" indent="-91440" defTabSz="91440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  Store attendance and </a:t>
            </a:r>
            <a:r>
              <a:rPr lang="en-I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in database</a:t>
            </a:r>
          </a:p>
          <a:p>
            <a:pPr marL="91440" indent="-91440" defTabSz="91440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15. END WHILE</a:t>
            </a:r>
          </a:p>
          <a:p>
            <a:pPr marL="91440" indent="-91440" defTabSz="91440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classroom monitoring report</a:t>
            </a:r>
          </a:p>
          <a:p>
            <a:pPr marL="91440" indent="-91440" defTabSz="91440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17. Display report to teacher and administrator</a:t>
            </a:r>
          </a:p>
          <a:p>
            <a:pPr marL="91440" indent="-91440" defTabSz="91440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Stop</a:t>
            </a:r>
          </a:p>
        </p:txBody>
      </p:sp>
    </p:spTree>
    <p:extLst>
      <p:ext uri="{BB962C8B-B14F-4D97-AF65-F5344CB8AC3E}">
        <p14:creationId xmlns:p14="http://schemas.microsoft.com/office/powerpoint/2010/main" val="3775110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083" y="667603"/>
            <a:ext cx="10058400" cy="1450757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17" name="Content Placeholder 1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6653" y="1693864"/>
            <a:ext cx="4667004" cy="464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506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 the Coding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17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 the Demo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894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04800" y="1845734"/>
            <a:ext cx="11534274" cy="4298392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AI-based classroom monitoring system effectively automates attendance, behavior detection, and engagement analysis using computer vision techniques.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classroom management and monitoring accuracy compared to traditional manual methods.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analysis helps teachers obtain instant insights into student participation and attentiveness.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demonstrates efficient performance, faster response time, and improved monitoring capabilities.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advanced deep learning models to improve behavior and emotion recognition accuracy.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multi-camera systems for monitoring large classrooms more effectively.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Incorporation of speech analysis and audio-based engagement detection.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as a cloud-based smart classroom analytics platform for large educational institutions.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716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8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935063"/>
            <a:ext cx="987552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Dalal, N., &amp; Triggs, B. (2005). Histograms of oriented gradients for human detection.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the IEEE Conference on Computer Vision and Pattern Recognition (CVPR)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886–893.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Redmon, J., Divvala, S., Girshick, R., &amp; Farhadi, A. (2016). You only look once: Unified, real-time object detection.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the IEEE Conference on Computer Vision and Pattern Recognition (CVPR)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779–788.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He, K., Zhang, X., Ren, S., &amp; Sun, J. (2016). Deep residual learning for image recognition.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the IEEE Conference on Computer Vision and Pattern Recognition (CVPR)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770–778.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Zhang, Z., Luo, P., Loy, C. C., &amp; Tang, X. (2014). Facial landmark detection by deep multi-task learning.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European Conference on Computer Vision (ECCV)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94–108.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Goodfellow, I., Bengio, Y., &amp; Courville, A. (2016).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MIT Press.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Howard, A. G., Zhu, M., Chen, B., Kalenichenko, D., Wang, W., Weyand, T., &amp; Adam, H. (2017). MobileNets: Efficient convolutional neural networks for mobile vision applications.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 preprint arXiv:1704.04861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Baltrusaitis, T., Robinson, P., &amp; Morency, L. P. (2018). OpenFace: An open source facial behavior analysis toolkit.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Winter Conference on Applications of Computer Vision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1–10.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D’Mello, S., &amp; Graesser, A. (2012). Dynamics of affective states during complex learning.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and Instruction, 22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(2), 145–157.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Whitehill, J., Serpell, Z., Lin, Y. C., Foster, A., &amp; Movellan, J. (2014). The faces of engagement: Automatic recognition of student engagement from facial expressions.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Transactions on Affective Computing, 5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(1), 86–98.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Chen, X., Zhang, H., &amp; Li, Y. (2020). Deep learning-based student behavior recognition in classroom environments.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Access, 8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123984–123993.</a:t>
            </a:r>
          </a:p>
        </p:txBody>
      </p:sp>
    </p:spTree>
    <p:extLst>
      <p:ext uri="{BB962C8B-B14F-4D97-AF65-F5344CB8AC3E}">
        <p14:creationId xmlns:p14="http://schemas.microsoft.com/office/powerpoint/2010/main" val="874210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Papers published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82502" y="2080395"/>
            <a:ext cx="961195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Parkavi</a:t>
            </a: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A., Alex S.A., </a:t>
            </a:r>
            <a:r>
              <a:rPr kumimoji="0" lang="en-US" altLang="en-US" sz="1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Pushpa</a:t>
            </a: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Latha</a:t>
            </a: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“Deep Learning Based Classroom Management System for Student </a:t>
            </a:r>
            <a:r>
              <a:rPr kumimoji="0" lang="en-US" altLang="en-US" sz="140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Behaviour</a:t>
            </a:r>
            <a:r>
              <a:rPr kumimoji="0" lang="en-US" altLang="en-US" sz="140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Detection.”</a:t>
            </a: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Conference on Artificial Intelligence and Data Analytics (AIDA), 2024.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Parkavi</a:t>
            </a: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A., Alex S.A., et al.</a:t>
            </a:r>
            <a:b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“Drone Based Intelligent System for Monitoring Social Distancing Using YOLOv5 and YOLOv6.”</a:t>
            </a: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Conference on Computational Intelligence and Communication Technologies (CICT), 2024.</a:t>
            </a:r>
          </a:p>
        </p:txBody>
      </p:sp>
    </p:spTree>
    <p:extLst>
      <p:ext uri="{BB962C8B-B14F-4D97-AF65-F5344CB8AC3E}">
        <p14:creationId xmlns:p14="http://schemas.microsoft.com/office/powerpoint/2010/main" val="1572809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D0D648-989B-4034-9BD3-6FBF9A769E5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197" y="879082"/>
            <a:ext cx="10450286" cy="4979176"/>
          </a:xfrm>
        </p:spPr>
        <p:txBody>
          <a:bodyPr>
            <a:no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1.Introduction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2.Problem Statement 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3.Objectives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4.Literature Survey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put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 tabular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form(title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, </a:t>
            </a:r>
            <a:r>
              <a:rPr lang="en-I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year,technique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result,discussion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future scope/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dis ( only very recent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papers(2024,2025))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5.Software Requirement Specifications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H/W,S/W required)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System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HLD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general architecture diagram ,Data flow diagram , functional diagram. LLD- UML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diagrams, Proposed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Methodology/Approach / Solution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Diagram : ( Clear detailed schematic / block diagram / flow chart depicting the proposed concept / solution 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7.Implementation 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pseudocode/algorithms /mathematical model//code snippets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different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modules/demo)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8.Testing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(test cases)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Results &amp; Performance analysis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(snapshots, comparative &amp; efficiency analysis in table, graph, formats)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10.Concusion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Future work 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11.References</a:t>
            </a:r>
          </a:p>
          <a:p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(APA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12. Published paper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0D42B-D3F3-45B4-B8EF-0FCE8B6129A3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1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7030A0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1057</TotalTime>
  <Words>1521</Words>
  <Application>Microsoft Office PowerPoint</Application>
  <PresentationFormat>Widescreen</PresentationFormat>
  <Paragraphs>232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Retrospect</vt:lpstr>
      <vt:lpstr>  &lt;&lt;Project Title: AI-Based Smart Classroom Monitoring System for Student Attendance, Attentiveness, and Behavior Analysis &gt;&gt; (Date)  </vt:lpstr>
      <vt:lpstr>Agenda</vt:lpstr>
      <vt:lpstr>Introduction </vt:lpstr>
      <vt:lpstr>Problem statement</vt:lpstr>
      <vt:lpstr>Objectives</vt:lpstr>
      <vt:lpstr>Literature survey</vt:lpstr>
      <vt:lpstr>Software requirement specifications</vt:lpstr>
      <vt:lpstr>SRS Contd…</vt:lpstr>
      <vt:lpstr>Detailed Functional requirements</vt:lpstr>
      <vt:lpstr>System design</vt:lpstr>
      <vt:lpstr>Data flow diagram</vt:lpstr>
      <vt:lpstr>Functional diagram</vt:lpstr>
      <vt:lpstr>UML Diagram</vt:lpstr>
      <vt:lpstr>PowerPoint Presentation</vt:lpstr>
      <vt:lpstr>Implementation- Algorithm</vt:lpstr>
      <vt:lpstr>Mathematical Model </vt:lpstr>
      <vt:lpstr>Show the Coding</vt:lpstr>
      <vt:lpstr>Show the Demo</vt:lpstr>
      <vt:lpstr>Conclusion and Future Scope</vt:lpstr>
      <vt:lpstr>References</vt:lpstr>
      <vt:lpstr>Papers published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Sanjeetha R</dc:creator>
  <cp:lastModifiedBy>ADMIN</cp:lastModifiedBy>
  <cp:revision>148</cp:revision>
  <dcterms:created xsi:type="dcterms:W3CDTF">2020-08-26T05:56:20Z</dcterms:created>
  <dcterms:modified xsi:type="dcterms:W3CDTF">2026-03-31T07:49:16Z</dcterms:modified>
</cp:coreProperties>
</file>